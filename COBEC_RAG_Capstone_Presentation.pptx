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63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7A5AC6-BA83-4387-9B63-091C371C481A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B88CC74-07AD-4421-B33C-3D3D0560D531}">
      <dgm:prSet/>
      <dgm:spPr/>
      <dgm:t>
        <a:bodyPr/>
        <a:lstStyle/>
        <a:p>
          <a:pPr>
            <a:defRPr cap="all"/>
          </a:pPr>
          <a:r>
            <a:rPr lang="en-US" dirty="0"/>
            <a:t>Flow: PDF Upload → Chunking → Embedding (</a:t>
          </a:r>
          <a:r>
            <a:rPr lang="en-US" dirty="0" err="1"/>
            <a:t>MiniLM</a:t>
          </a:r>
          <a:r>
            <a:rPr lang="en-US" dirty="0"/>
            <a:t>) → </a:t>
          </a:r>
          <a:r>
            <a:rPr lang="en-US" dirty="0" err="1"/>
            <a:t>ChromaDB</a:t>
          </a:r>
          <a:endParaRPr lang="en-US" dirty="0"/>
        </a:p>
      </dgm:t>
    </dgm:pt>
    <dgm:pt modelId="{6E5D2162-E794-47B2-9895-F2AEB954471A}" type="parTrans" cxnId="{341604EC-F732-4B3A-AD19-493A3A12E686}">
      <dgm:prSet/>
      <dgm:spPr/>
      <dgm:t>
        <a:bodyPr/>
        <a:lstStyle/>
        <a:p>
          <a:endParaRPr lang="en-US"/>
        </a:p>
      </dgm:t>
    </dgm:pt>
    <dgm:pt modelId="{18681AA6-ADCA-47AC-B0B1-EE4E107A4B6B}" type="sibTrans" cxnId="{341604EC-F732-4B3A-AD19-493A3A12E686}">
      <dgm:prSet/>
      <dgm:spPr/>
      <dgm:t>
        <a:bodyPr/>
        <a:lstStyle/>
        <a:p>
          <a:endParaRPr lang="en-US"/>
        </a:p>
      </dgm:t>
    </dgm:pt>
    <dgm:pt modelId="{E59B60FA-15AA-491C-8E08-AFFA8C27C32B}">
      <dgm:prSet/>
      <dgm:spPr/>
      <dgm:t>
        <a:bodyPr/>
        <a:lstStyle/>
        <a:p>
          <a:pPr>
            <a:defRPr cap="all"/>
          </a:pPr>
          <a:r>
            <a:rPr lang="en-US"/>
            <a:t>→ Query → Chunk Retrieval → Answer Generation (Mistral)</a:t>
          </a:r>
        </a:p>
      </dgm:t>
    </dgm:pt>
    <dgm:pt modelId="{BAD449B1-CF7A-4A47-957F-4B32B71CD992}" type="parTrans" cxnId="{6774E5ED-10D8-45FE-94AC-C9DF32196F4B}">
      <dgm:prSet/>
      <dgm:spPr/>
      <dgm:t>
        <a:bodyPr/>
        <a:lstStyle/>
        <a:p>
          <a:endParaRPr lang="en-US"/>
        </a:p>
      </dgm:t>
    </dgm:pt>
    <dgm:pt modelId="{170DDB33-002A-4246-923E-AF041BE434FC}" type="sibTrans" cxnId="{6774E5ED-10D8-45FE-94AC-C9DF32196F4B}">
      <dgm:prSet/>
      <dgm:spPr/>
      <dgm:t>
        <a:bodyPr/>
        <a:lstStyle/>
        <a:p>
          <a:endParaRPr lang="en-US"/>
        </a:p>
      </dgm:t>
    </dgm:pt>
    <dgm:pt modelId="{E1D218E1-1E38-47B3-8814-48C9DD085245}">
      <dgm:prSet/>
      <dgm:spPr/>
      <dgm:t>
        <a:bodyPr/>
        <a:lstStyle/>
        <a:p>
          <a:pPr>
            <a:defRPr cap="all"/>
          </a:pPr>
          <a:r>
            <a:rPr lang="en-US"/>
            <a:t>Stack: LangChain, Sentence Transformers, ChromaDB, Mistral 7B, Streamlit</a:t>
          </a:r>
        </a:p>
      </dgm:t>
    </dgm:pt>
    <dgm:pt modelId="{D8D0D6AD-41C1-4A30-9DFC-B6C5BF5666BC}" type="parTrans" cxnId="{9E6C5641-97FA-4F22-94BD-6D95FB34F921}">
      <dgm:prSet/>
      <dgm:spPr/>
      <dgm:t>
        <a:bodyPr/>
        <a:lstStyle/>
        <a:p>
          <a:endParaRPr lang="en-US"/>
        </a:p>
      </dgm:t>
    </dgm:pt>
    <dgm:pt modelId="{49A51B82-082F-489A-940A-B6CF6D978B38}" type="sibTrans" cxnId="{9E6C5641-97FA-4F22-94BD-6D95FB34F921}">
      <dgm:prSet/>
      <dgm:spPr/>
      <dgm:t>
        <a:bodyPr/>
        <a:lstStyle/>
        <a:p>
          <a:endParaRPr lang="en-US"/>
        </a:p>
      </dgm:t>
    </dgm:pt>
    <dgm:pt modelId="{CFA04397-7F53-4F8C-9A50-E18FAE48325D}" type="pres">
      <dgm:prSet presAssocID="{AA7A5AC6-BA83-4387-9B63-091C371C481A}" presName="Name0" presStyleCnt="0">
        <dgm:presLayoutVars>
          <dgm:dir/>
          <dgm:resizeHandles val="exact"/>
        </dgm:presLayoutVars>
      </dgm:prSet>
      <dgm:spPr/>
    </dgm:pt>
    <dgm:pt modelId="{AC1ED724-7625-4BA0-9E7A-7C2B1AD81DB2}" type="pres">
      <dgm:prSet presAssocID="{8B88CC74-07AD-4421-B33C-3D3D0560D531}" presName="composite" presStyleCnt="0"/>
      <dgm:spPr/>
    </dgm:pt>
    <dgm:pt modelId="{6C729470-C99A-47E4-81B4-5DAB381FDC1A}" type="pres">
      <dgm:prSet presAssocID="{8B88CC74-07AD-4421-B33C-3D3D0560D531}" presName="bgChev" presStyleLbl="node1" presStyleIdx="0" presStyleCnt="3"/>
      <dgm:spPr/>
    </dgm:pt>
    <dgm:pt modelId="{2F4EB1AE-F3C0-4B1C-96B8-BA66DE32EE1C}" type="pres">
      <dgm:prSet presAssocID="{8B88CC74-07AD-4421-B33C-3D3D0560D531}" presName="txNode" presStyleLbl="fgAcc1" presStyleIdx="0" presStyleCnt="3">
        <dgm:presLayoutVars>
          <dgm:bulletEnabled val="1"/>
        </dgm:presLayoutVars>
      </dgm:prSet>
      <dgm:spPr/>
    </dgm:pt>
    <dgm:pt modelId="{502CFF44-D3EF-494D-9273-B8345FA48B00}" type="pres">
      <dgm:prSet presAssocID="{18681AA6-ADCA-47AC-B0B1-EE4E107A4B6B}" presName="compositeSpace" presStyleCnt="0"/>
      <dgm:spPr/>
    </dgm:pt>
    <dgm:pt modelId="{2905745C-7E32-45D5-BD60-1635636231E7}" type="pres">
      <dgm:prSet presAssocID="{E59B60FA-15AA-491C-8E08-AFFA8C27C32B}" presName="composite" presStyleCnt="0"/>
      <dgm:spPr/>
    </dgm:pt>
    <dgm:pt modelId="{3797AA0F-F808-4EDB-8FD0-462CF12CBC17}" type="pres">
      <dgm:prSet presAssocID="{E59B60FA-15AA-491C-8E08-AFFA8C27C32B}" presName="bgChev" presStyleLbl="node1" presStyleIdx="1" presStyleCnt="3"/>
      <dgm:spPr/>
    </dgm:pt>
    <dgm:pt modelId="{B20A016D-7575-47C1-A8E1-02684DC1DAFC}" type="pres">
      <dgm:prSet presAssocID="{E59B60FA-15AA-491C-8E08-AFFA8C27C32B}" presName="txNode" presStyleLbl="fgAcc1" presStyleIdx="1" presStyleCnt="3">
        <dgm:presLayoutVars>
          <dgm:bulletEnabled val="1"/>
        </dgm:presLayoutVars>
      </dgm:prSet>
      <dgm:spPr/>
    </dgm:pt>
    <dgm:pt modelId="{EE8252CE-EA7A-431A-BA31-7AD5EBC893A8}" type="pres">
      <dgm:prSet presAssocID="{170DDB33-002A-4246-923E-AF041BE434FC}" presName="compositeSpace" presStyleCnt="0"/>
      <dgm:spPr/>
    </dgm:pt>
    <dgm:pt modelId="{0FB61634-15A0-45A9-88A5-AB6D99A39BD4}" type="pres">
      <dgm:prSet presAssocID="{E1D218E1-1E38-47B3-8814-48C9DD085245}" presName="composite" presStyleCnt="0"/>
      <dgm:spPr/>
    </dgm:pt>
    <dgm:pt modelId="{7798B1DF-2150-476C-B045-9C64F5E5C002}" type="pres">
      <dgm:prSet presAssocID="{E1D218E1-1E38-47B3-8814-48C9DD085245}" presName="bgChev" presStyleLbl="node1" presStyleIdx="2" presStyleCnt="3"/>
      <dgm:spPr/>
    </dgm:pt>
    <dgm:pt modelId="{8A136503-2A60-4AE7-BD8A-35AE11379261}" type="pres">
      <dgm:prSet presAssocID="{E1D218E1-1E38-47B3-8814-48C9DD085245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471B881D-D5D2-42C9-AAD4-5ED8017E6625}" type="presOf" srcId="{8B88CC74-07AD-4421-B33C-3D3D0560D531}" destId="{2F4EB1AE-F3C0-4B1C-96B8-BA66DE32EE1C}" srcOrd="0" destOrd="0" presId="urn:microsoft.com/office/officeart/2005/8/layout/chevronAccent+Icon"/>
    <dgm:cxn modelId="{DDD1AB5B-D028-4D16-8996-BC4357521FC5}" type="presOf" srcId="{E59B60FA-15AA-491C-8E08-AFFA8C27C32B}" destId="{B20A016D-7575-47C1-A8E1-02684DC1DAFC}" srcOrd="0" destOrd="0" presId="urn:microsoft.com/office/officeart/2005/8/layout/chevronAccent+Icon"/>
    <dgm:cxn modelId="{9E6C5641-97FA-4F22-94BD-6D95FB34F921}" srcId="{AA7A5AC6-BA83-4387-9B63-091C371C481A}" destId="{E1D218E1-1E38-47B3-8814-48C9DD085245}" srcOrd="2" destOrd="0" parTransId="{D8D0D6AD-41C1-4A30-9DFC-B6C5BF5666BC}" sibTransId="{49A51B82-082F-489A-940A-B6CF6D978B38}"/>
    <dgm:cxn modelId="{B1E1ECAD-1B9F-4319-A359-5BAD79E4459B}" type="presOf" srcId="{E1D218E1-1E38-47B3-8814-48C9DD085245}" destId="{8A136503-2A60-4AE7-BD8A-35AE11379261}" srcOrd="0" destOrd="0" presId="urn:microsoft.com/office/officeart/2005/8/layout/chevronAccent+Icon"/>
    <dgm:cxn modelId="{341604EC-F732-4B3A-AD19-493A3A12E686}" srcId="{AA7A5AC6-BA83-4387-9B63-091C371C481A}" destId="{8B88CC74-07AD-4421-B33C-3D3D0560D531}" srcOrd="0" destOrd="0" parTransId="{6E5D2162-E794-47B2-9895-F2AEB954471A}" sibTransId="{18681AA6-ADCA-47AC-B0B1-EE4E107A4B6B}"/>
    <dgm:cxn modelId="{6774E5ED-10D8-45FE-94AC-C9DF32196F4B}" srcId="{AA7A5AC6-BA83-4387-9B63-091C371C481A}" destId="{E59B60FA-15AA-491C-8E08-AFFA8C27C32B}" srcOrd="1" destOrd="0" parTransId="{BAD449B1-CF7A-4A47-957F-4B32B71CD992}" sibTransId="{170DDB33-002A-4246-923E-AF041BE434FC}"/>
    <dgm:cxn modelId="{73C46FEF-28A2-474C-B435-6158F52127B0}" type="presOf" srcId="{AA7A5AC6-BA83-4387-9B63-091C371C481A}" destId="{CFA04397-7F53-4F8C-9A50-E18FAE48325D}" srcOrd="0" destOrd="0" presId="urn:microsoft.com/office/officeart/2005/8/layout/chevronAccent+Icon"/>
    <dgm:cxn modelId="{705BE5E2-1125-4D1F-8991-7AFB841EF213}" type="presParOf" srcId="{CFA04397-7F53-4F8C-9A50-E18FAE48325D}" destId="{AC1ED724-7625-4BA0-9E7A-7C2B1AD81DB2}" srcOrd="0" destOrd="0" presId="urn:microsoft.com/office/officeart/2005/8/layout/chevronAccent+Icon"/>
    <dgm:cxn modelId="{75964E8D-DA89-4C65-90EA-F9419EB9987C}" type="presParOf" srcId="{AC1ED724-7625-4BA0-9E7A-7C2B1AD81DB2}" destId="{6C729470-C99A-47E4-81B4-5DAB381FDC1A}" srcOrd="0" destOrd="0" presId="urn:microsoft.com/office/officeart/2005/8/layout/chevronAccent+Icon"/>
    <dgm:cxn modelId="{E417838B-6012-45EC-A106-C8E4503E5723}" type="presParOf" srcId="{AC1ED724-7625-4BA0-9E7A-7C2B1AD81DB2}" destId="{2F4EB1AE-F3C0-4B1C-96B8-BA66DE32EE1C}" srcOrd="1" destOrd="0" presId="urn:microsoft.com/office/officeart/2005/8/layout/chevronAccent+Icon"/>
    <dgm:cxn modelId="{50B8E535-5C01-413E-9AEE-A3D5B27185DC}" type="presParOf" srcId="{CFA04397-7F53-4F8C-9A50-E18FAE48325D}" destId="{502CFF44-D3EF-494D-9273-B8345FA48B00}" srcOrd="1" destOrd="0" presId="urn:microsoft.com/office/officeart/2005/8/layout/chevronAccent+Icon"/>
    <dgm:cxn modelId="{54A132C1-8345-44BF-A944-5F589350AA0A}" type="presParOf" srcId="{CFA04397-7F53-4F8C-9A50-E18FAE48325D}" destId="{2905745C-7E32-45D5-BD60-1635636231E7}" srcOrd="2" destOrd="0" presId="urn:microsoft.com/office/officeart/2005/8/layout/chevronAccent+Icon"/>
    <dgm:cxn modelId="{3435B419-DCE0-4118-8F04-460FEAC93024}" type="presParOf" srcId="{2905745C-7E32-45D5-BD60-1635636231E7}" destId="{3797AA0F-F808-4EDB-8FD0-462CF12CBC17}" srcOrd="0" destOrd="0" presId="urn:microsoft.com/office/officeart/2005/8/layout/chevronAccent+Icon"/>
    <dgm:cxn modelId="{185DA5C0-35A6-4A26-A515-18A4541A2D2D}" type="presParOf" srcId="{2905745C-7E32-45D5-BD60-1635636231E7}" destId="{B20A016D-7575-47C1-A8E1-02684DC1DAFC}" srcOrd="1" destOrd="0" presId="urn:microsoft.com/office/officeart/2005/8/layout/chevronAccent+Icon"/>
    <dgm:cxn modelId="{F3EE8FB4-1068-45A2-8940-06988954958B}" type="presParOf" srcId="{CFA04397-7F53-4F8C-9A50-E18FAE48325D}" destId="{EE8252CE-EA7A-431A-BA31-7AD5EBC893A8}" srcOrd="3" destOrd="0" presId="urn:microsoft.com/office/officeart/2005/8/layout/chevronAccent+Icon"/>
    <dgm:cxn modelId="{F8B8707A-4149-43A4-BCBA-39D18BCCEAEC}" type="presParOf" srcId="{CFA04397-7F53-4F8C-9A50-E18FAE48325D}" destId="{0FB61634-15A0-45A9-88A5-AB6D99A39BD4}" srcOrd="4" destOrd="0" presId="urn:microsoft.com/office/officeart/2005/8/layout/chevronAccent+Icon"/>
    <dgm:cxn modelId="{D5AF8045-BE00-447A-8DB4-579855B26F35}" type="presParOf" srcId="{0FB61634-15A0-45A9-88A5-AB6D99A39BD4}" destId="{7798B1DF-2150-476C-B045-9C64F5E5C002}" srcOrd="0" destOrd="0" presId="urn:microsoft.com/office/officeart/2005/8/layout/chevronAccent+Icon"/>
    <dgm:cxn modelId="{72B94146-D170-4CD7-8949-16C22B5ED980}" type="presParOf" srcId="{0FB61634-15A0-45A9-88A5-AB6D99A39BD4}" destId="{8A136503-2A60-4AE7-BD8A-35AE11379261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29470-C99A-47E4-81B4-5DAB381FDC1A}">
      <dsp:nvSpPr>
        <dsp:cNvPr id="0" name=""/>
        <dsp:cNvSpPr/>
      </dsp:nvSpPr>
      <dsp:spPr>
        <a:xfrm>
          <a:off x="960" y="1262532"/>
          <a:ext cx="2413139" cy="931471"/>
        </a:xfrm>
        <a:prstGeom prst="chevron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EB1AE-F3C0-4B1C-96B8-BA66DE32EE1C}">
      <dsp:nvSpPr>
        <dsp:cNvPr id="0" name=""/>
        <dsp:cNvSpPr/>
      </dsp:nvSpPr>
      <dsp:spPr>
        <a:xfrm>
          <a:off x="644464" y="1495400"/>
          <a:ext cx="2037762" cy="9314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Flow: PDF Upload → Chunking → Embedding (</a:t>
          </a:r>
          <a:r>
            <a:rPr lang="en-US" sz="1200" kern="1200" dirty="0" err="1"/>
            <a:t>MiniLM</a:t>
          </a:r>
          <a:r>
            <a:rPr lang="en-US" sz="1200" kern="1200" dirty="0"/>
            <a:t>) → </a:t>
          </a:r>
          <a:r>
            <a:rPr lang="en-US" sz="1200" kern="1200" dirty="0" err="1"/>
            <a:t>ChromaDB</a:t>
          </a:r>
          <a:endParaRPr lang="en-US" sz="1200" kern="1200" dirty="0"/>
        </a:p>
      </dsp:txBody>
      <dsp:txXfrm>
        <a:off x="671746" y="1522682"/>
        <a:ext cx="1983198" cy="876907"/>
      </dsp:txXfrm>
    </dsp:sp>
    <dsp:sp modelId="{3797AA0F-F808-4EDB-8FD0-462CF12CBC17}">
      <dsp:nvSpPr>
        <dsp:cNvPr id="0" name=""/>
        <dsp:cNvSpPr/>
      </dsp:nvSpPr>
      <dsp:spPr>
        <a:xfrm>
          <a:off x="2757302" y="1262532"/>
          <a:ext cx="2413139" cy="931471"/>
        </a:xfrm>
        <a:prstGeom prst="chevron">
          <a:avLst>
            <a:gd name="adj" fmla="val 4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A016D-7575-47C1-A8E1-02684DC1DAFC}">
      <dsp:nvSpPr>
        <dsp:cNvPr id="0" name=""/>
        <dsp:cNvSpPr/>
      </dsp:nvSpPr>
      <dsp:spPr>
        <a:xfrm>
          <a:off x="3400806" y="1495400"/>
          <a:ext cx="2037762" cy="9314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→ Query → Chunk Retrieval → Answer Generation (Mistral)</a:t>
          </a:r>
        </a:p>
      </dsp:txBody>
      <dsp:txXfrm>
        <a:off x="3428088" y="1522682"/>
        <a:ext cx="1983198" cy="876907"/>
      </dsp:txXfrm>
    </dsp:sp>
    <dsp:sp modelId="{7798B1DF-2150-476C-B045-9C64F5E5C002}">
      <dsp:nvSpPr>
        <dsp:cNvPr id="0" name=""/>
        <dsp:cNvSpPr/>
      </dsp:nvSpPr>
      <dsp:spPr>
        <a:xfrm>
          <a:off x="5513644" y="1262532"/>
          <a:ext cx="2413139" cy="931471"/>
        </a:xfrm>
        <a:prstGeom prst="chevron">
          <a:avLst>
            <a:gd name="adj" fmla="val 4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36503-2A60-4AE7-BD8A-35AE11379261}">
      <dsp:nvSpPr>
        <dsp:cNvPr id="0" name=""/>
        <dsp:cNvSpPr/>
      </dsp:nvSpPr>
      <dsp:spPr>
        <a:xfrm>
          <a:off x="6157148" y="1495400"/>
          <a:ext cx="2037762" cy="9314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Stack: LangChain, Sentence Transformers, ChromaDB, Mistral 7B, Streamlit</a:t>
          </a:r>
        </a:p>
      </dsp:txBody>
      <dsp:txXfrm>
        <a:off x="6184430" y="1522682"/>
        <a:ext cx="1983198" cy="876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3984"/>
            <a:ext cx="7032474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7048" y="1542402"/>
            <a:ext cx="3890131" cy="238791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800">
                <a:solidFill>
                  <a:schemeClr val="tx2"/>
                </a:solidFill>
              </a:rPr>
              <a:t>COBEC Policy Assistant: RAG-Based Knowledge Retrieval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601" y="4001587"/>
            <a:ext cx="3891025" cy="6820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800">
                <a:solidFill>
                  <a:schemeClr val="tx2"/>
                </a:solidFill>
              </a:rPr>
              <a:t>Powered by LangChain, Mistral 7B, Sentence Transformers &amp; ChromaDB</a:t>
            </a:r>
          </a:p>
          <a:p>
            <a:pPr>
              <a:lnSpc>
                <a:spcPct val="90000"/>
              </a:lnSpc>
            </a:pPr>
            <a:r>
              <a:rPr lang="en-GB" sz="800">
                <a:solidFill>
                  <a:schemeClr val="tx2"/>
                </a:solidFill>
              </a:rPr>
              <a:t>Presented by: Rohan Solanki</a:t>
            </a:r>
          </a:p>
          <a:p>
            <a:pPr>
              <a:lnSpc>
                <a:spcPct val="90000"/>
              </a:lnSpc>
            </a:pPr>
            <a:r>
              <a:rPr lang="en-GB" sz="800">
                <a:solidFill>
                  <a:schemeClr val="tx2"/>
                </a:solidFill>
              </a:rPr>
              <a:t>ID: 52033152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4155"/>
            <a:ext cx="1886210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264295" y="4683666"/>
            <a:ext cx="1886211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1700" dirty="0"/>
              <a:t>HR/legal teams struggle to extract answers from COBEC policy documents.</a:t>
            </a:r>
          </a:p>
          <a:p>
            <a:r>
              <a:rPr lang="en-GB" sz="1700" dirty="0"/>
              <a:t>Manual lookup in long PDFs is time-consuming and error-prone.</a:t>
            </a:r>
          </a:p>
          <a:p>
            <a:r>
              <a:rPr lang="en-GB" sz="1700" dirty="0"/>
              <a:t>A smart assistant is needed to answer questions based on policy context.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307A0345-9DAB-3EFB-0860-441E606165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72" r="277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 dirty="0"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A GenAI-powered assistant that uses RAG (Retrieval-Augmented Generation).</a:t>
            </a:r>
          </a:p>
          <a:p>
            <a:r>
              <a:rPr lang="en-GB" sz="1700" dirty="0"/>
              <a:t>Supports version and access-based filtering (e.g., v1, v2, HR, Legal).</a:t>
            </a:r>
          </a:p>
          <a:p>
            <a:r>
              <a:rPr lang="en-GB" sz="1700" dirty="0"/>
              <a:t>Answers grounded in COBEC policy documents.</a:t>
            </a:r>
          </a:p>
          <a:p>
            <a:r>
              <a:rPr lang="en-GB" sz="1700" dirty="0"/>
              <a:t>UI powered by </a:t>
            </a:r>
            <a:r>
              <a:rPr lang="en-GB" sz="1700" dirty="0" err="1"/>
              <a:t>Streamlit</a:t>
            </a:r>
            <a:r>
              <a:rPr lang="en-GB" sz="1700" dirty="0"/>
              <a:t> for fast interaction.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AB5595F9-D0E3-6522-5D02-5F5B4E0DA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9" r="45843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Architecture Diagram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E63810-8EE4-DE52-D0E3-FF235EE9E3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664574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 dirty="0">
                <a:solidFill>
                  <a:srgbClr val="FFFFFF"/>
                </a:solidFill>
              </a:rPr>
              <a:t>RAG Pipeline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IN" sz="1700" dirty="0"/>
              <a:t>Chunking: 500-character chunks with overlap using </a:t>
            </a:r>
            <a:r>
              <a:rPr lang="en-IN" sz="1700" dirty="0" err="1"/>
              <a:t>PyMuPDF</a:t>
            </a:r>
            <a:r>
              <a:rPr lang="en-IN" sz="1700" dirty="0"/>
              <a:t>.</a:t>
            </a:r>
          </a:p>
          <a:p>
            <a:r>
              <a:rPr lang="en-IN" sz="1700" dirty="0"/>
              <a:t>Embeddings: all-MiniLM-L6-v2 for balance of speed and precision.</a:t>
            </a:r>
          </a:p>
          <a:p>
            <a:r>
              <a:rPr lang="en-IN" sz="1700" dirty="0"/>
              <a:t>Metadata-aware chunk filtering: version + access.</a:t>
            </a:r>
          </a:p>
          <a:p>
            <a:r>
              <a:rPr lang="en-IN" sz="1700" dirty="0"/>
              <a:t>Retrieval: cosine similarity + optional reranking.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IN" sz="2800" dirty="0"/>
              <a:t>UI Walkthrough</a:t>
            </a:r>
          </a:p>
        </p:txBody>
      </p:sp>
      <p:pic>
        <p:nvPicPr>
          <p:cNvPr id="13" name="Picture 12" descr="Blue and orange gradient with arrows">
            <a:extLst>
              <a:ext uri="{FF2B5EF4-FFF2-40B4-BE49-F238E27FC236}">
                <a16:creationId xmlns:a16="http://schemas.microsoft.com/office/drawing/2014/main" id="{7F899D92-B6B1-4A66-9191-D339F62AB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30" r="20070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GB" sz="1700" dirty="0"/>
              <a:t>Sidebar: Select policy version and access level.</a:t>
            </a:r>
          </a:p>
          <a:p>
            <a:r>
              <a:rPr lang="en-GB" sz="1700" dirty="0"/>
              <a:t>Main: Enter a question and get a contextual answer.</a:t>
            </a:r>
          </a:p>
          <a:p>
            <a:r>
              <a:rPr lang="en-GB" sz="1700" dirty="0"/>
              <a:t>Expandable section shows retrieved context chunks.</a:t>
            </a:r>
          </a:p>
          <a:p>
            <a:r>
              <a:rPr lang="en-GB" sz="1700" dirty="0" err="1"/>
              <a:t>Streamlit</a:t>
            </a:r>
            <a:r>
              <a:rPr lang="en-GB" sz="1700" dirty="0"/>
              <a:t> enables clean UX and fast feedback.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IN" sz="2800" dirty="0"/>
              <a:t>Test Case Demonstrations</a:t>
            </a:r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F15756C6-0970-D41A-58EE-A5B9E7A54A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63" r="35849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GB" sz="1700" dirty="0"/>
              <a:t>Query 1: How does </a:t>
            </a:r>
            <a:r>
              <a:rPr lang="en-GB" sz="1700" dirty="0" err="1"/>
              <a:t>HCLTech</a:t>
            </a:r>
            <a:r>
              <a:rPr lang="en-GB" sz="1700" dirty="0"/>
              <a:t> ensure workplace safety and health for its employees? : (HR v2)</a:t>
            </a:r>
          </a:p>
          <a:p>
            <a:r>
              <a:rPr lang="en-GB" sz="1700" dirty="0"/>
              <a:t>Query 2: What is the COBEC policy for gifts? (ALL v1)</a:t>
            </a:r>
          </a:p>
          <a:p>
            <a:r>
              <a:rPr lang="en-GB" sz="1700" dirty="0"/>
              <a:t>Query 3: How can an employee raise a complaint regarding discrimination under the Equal Opportunity Policy?(Legal v3)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IN" sz="2800" dirty="0"/>
              <a:t>Future Scope + Learnings</a:t>
            </a:r>
          </a:p>
        </p:txBody>
      </p:sp>
      <p:pic>
        <p:nvPicPr>
          <p:cNvPr id="11" name="Picture 10" descr="Magnifying glass showing decling performance">
            <a:extLst>
              <a:ext uri="{FF2B5EF4-FFF2-40B4-BE49-F238E27FC236}">
                <a16:creationId xmlns:a16="http://schemas.microsoft.com/office/drawing/2014/main" id="{7869C0AB-791D-C330-4E61-B813C4297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17" r="46480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Future Scope: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Add upload support for new policies.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Enable document comparison mode.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Combine lexical (BM25) + semantic (vector) search.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7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Learnings: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Tuned RAG systems for domain-specific QA.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Applied GenAI to real-world enterprise content.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Built an explainable AI-powered assistant.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336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COBEC Policy Assistant: RAG-Based Knowledge Retrieval System</vt:lpstr>
      <vt:lpstr>Problem Statement</vt:lpstr>
      <vt:lpstr>Solution Overview</vt:lpstr>
      <vt:lpstr>Architecture Diagram</vt:lpstr>
      <vt:lpstr>RAG Pipeline Internals</vt:lpstr>
      <vt:lpstr>UI Walkthrough</vt:lpstr>
      <vt:lpstr>Test Case Demonstrations</vt:lpstr>
      <vt:lpstr>Future Scope +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2025-05-27T10:36:34Z</dcterms:modified>
  <cp:category/>
</cp:coreProperties>
</file>